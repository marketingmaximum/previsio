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4660"/>
  </p:normalViewPr>
  <p:slideViewPr>
    <p:cSldViewPr snapToGrid="0">
      <p:cViewPr varScale="1">
        <p:scale>
          <a:sx n="68" d="100"/>
          <a:sy n="68" d="100"/>
        </p:scale>
        <p:origin x="972" y="4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0BB437-0D27-12AA-02F1-80C85225A2BB}"/>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FCF0646-B9D8-CA54-80DA-CF532DED24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4C6476E5-1A19-7F91-64D5-B0DB10566A15}"/>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5" name="Espaço Reservado para Rodapé 4">
            <a:extLst>
              <a:ext uri="{FF2B5EF4-FFF2-40B4-BE49-F238E27FC236}">
                <a16:creationId xmlns:a16="http://schemas.microsoft.com/office/drawing/2014/main" id="{EC4EEA56-C736-3E74-920F-DA11BFA7BEA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1B735DF-C102-C975-EAC7-14E21CBAF311}"/>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218846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F2DD-1415-93B5-E64C-9F47B137D8F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528A375-297B-2D68-F3DE-0DCF2A1D968B}"/>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36EF296-857F-7668-DA7D-4B5A227F3119}"/>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5" name="Espaço Reservado para Rodapé 4">
            <a:extLst>
              <a:ext uri="{FF2B5EF4-FFF2-40B4-BE49-F238E27FC236}">
                <a16:creationId xmlns:a16="http://schemas.microsoft.com/office/drawing/2014/main" id="{63B0AAA7-49B6-3A8E-EFE8-FD71EA37393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CB2AD6E-51E3-0826-5C33-59F70623644A}"/>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1537438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1B51CA-A903-F248-44CF-AF8EA7B9DD36}"/>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BD5583F2-01BC-54EF-1F08-1807A3CEFC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D8857C9D-3CE8-0C76-7CB1-EDFC9F3C78E6}"/>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5" name="Espaço Reservado para Rodapé 4">
            <a:extLst>
              <a:ext uri="{FF2B5EF4-FFF2-40B4-BE49-F238E27FC236}">
                <a16:creationId xmlns:a16="http://schemas.microsoft.com/office/drawing/2014/main" id="{A5390B27-71DF-1D3A-C1EB-6A8CFDC140C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6266D87-FA32-591C-C812-AB3C16D1BA59}"/>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235507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71A466-4E50-08DB-68A8-4CB407CC7B3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857F005-88B0-2E2E-BA32-84442E5BAEDD}"/>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E8BEFB6-DFB5-31C6-FFA2-2ECF021E6CAB}"/>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4C05A4F7-DCAB-9169-7624-C6CCB6BDB286}"/>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6" name="Espaço Reservado para Rodapé 5">
            <a:extLst>
              <a:ext uri="{FF2B5EF4-FFF2-40B4-BE49-F238E27FC236}">
                <a16:creationId xmlns:a16="http://schemas.microsoft.com/office/drawing/2014/main" id="{FBD29640-F881-8E52-1834-2C029F97054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D3B2C3B-8578-D425-23E9-252518211952}"/>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138561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60E2B-090C-234B-41ED-F6BAF8C8F88E}"/>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8C9CFB94-8955-53CF-14E2-72606E1AF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B289D2F-604E-BD26-2942-552CCC0AC40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A61C2062-CFD8-03D1-8114-F18D8AB5F7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1A0482FD-6A25-3B5B-A64B-200838ABA6CB}"/>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EA65A6E-3632-919D-E839-0812D680CCDF}"/>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8" name="Espaço Reservado para Rodapé 7">
            <a:extLst>
              <a:ext uri="{FF2B5EF4-FFF2-40B4-BE49-F238E27FC236}">
                <a16:creationId xmlns:a16="http://schemas.microsoft.com/office/drawing/2014/main" id="{D0248CF4-8205-E58F-4D4D-F275DB3D4206}"/>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3890A9F7-C6C7-4A3C-36ED-AB52CEE93B31}"/>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3380035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B1ED7-8C0D-BF1E-3215-8BBE16ABE0F0}"/>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BF6E1DE-A7EC-F324-DFD4-0BA279C27153}"/>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4" name="Espaço Reservado para Rodapé 3">
            <a:extLst>
              <a:ext uri="{FF2B5EF4-FFF2-40B4-BE49-F238E27FC236}">
                <a16:creationId xmlns:a16="http://schemas.microsoft.com/office/drawing/2014/main" id="{513786D3-E84A-30DD-8C7A-B1AAE5C29FD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56CF7CC1-3096-8B4C-4E34-86ACF5AB6625}"/>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3075661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8FFCC3C-C870-9317-9C24-D3F1145377E0}"/>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3" name="Espaço Reservado para Rodapé 2">
            <a:extLst>
              <a:ext uri="{FF2B5EF4-FFF2-40B4-BE49-F238E27FC236}">
                <a16:creationId xmlns:a16="http://schemas.microsoft.com/office/drawing/2014/main" id="{9967DC7D-2603-DDD0-8AEC-20EBBBF0944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BEE7715-6166-9245-E7AE-D0F357F921C9}"/>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3943363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10C4A1-D06E-D713-C4CE-815D9B14E37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A5615F62-3BE6-F480-AF0F-ACB66C9DE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8D67C2B-2776-6862-06D5-DEF2144296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BEBC2A9-570E-2E0A-006A-1A4FBA001B4B}"/>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6" name="Espaço Reservado para Rodapé 5">
            <a:extLst>
              <a:ext uri="{FF2B5EF4-FFF2-40B4-BE49-F238E27FC236}">
                <a16:creationId xmlns:a16="http://schemas.microsoft.com/office/drawing/2014/main" id="{A59E4AAC-5198-6B9E-08A6-530869D9ABA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24C891-7B34-C78A-0AC8-148ABD4D5D26}"/>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2838513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D7760C-E679-BA49-A709-6F4D3061740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F47BE594-21CF-F52C-E3BB-11164460DE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53359D15-5BC6-939C-0719-1436CE4D4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E0D655D-146C-4DE5-96F6-B8C72D64C1D6}"/>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6" name="Espaço Reservado para Rodapé 5">
            <a:extLst>
              <a:ext uri="{FF2B5EF4-FFF2-40B4-BE49-F238E27FC236}">
                <a16:creationId xmlns:a16="http://schemas.microsoft.com/office/drawing/2014/main" id="{78660315-CA31-6ACC-FC0C-CC4E8025285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7172038-D678-A69D-A4D0-01B9C718856E}"/>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4124141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7D9D22-AB1C-EFDF-75AB-5E29216A59E9}"/>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269BC62-36FD-243F-4FB2-D9ACEA71C56F}"/>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46EA954-064B-C99D-424B-7568FD8D0E41}"/>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5" name="Espaço Reservado para Rodapé 4">
            <a:extLst>
              <a:ext uri="{FF2B5EF4-FFF2-40B4-BE49-F238E27FC236}">
                <a16:creationId xmlns:a16="http://schemas.microsoft.com/office/drawing/2014/main" id="{8F6D4F58-ECF7-66D5-6583-2196D6AAA30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CFBBC70-F576-6934-8114-B488E56B65EF}"/>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3869930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AA5BFA6-005D-27EA-B4A3-C8D31725AECD}"/>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1FF5B80-C4A5-0DAA-7685-60F0072823F0}"/>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4F87947-504D-17B0-837A-8F5E99B71764}"/>
              </a:ext>
            </a:extLst>
          </p:cNvPr>
          <p:cNvSpPr>
            <a:spLocks noGrp="1"/>
          </p:cNvSpPr>
          <p:nvPr>
            <p:ph type="dt" sz="half" idx="10"/>
          </p:nvPr>
        </p:nvSpPr>
        <p:spPr/>
        <p:txBody>
          <a:bodyPr/>
          <a:lstStyle/>
          <a:p>
            <a:fld id="{9E11FB6D-9C54-48D2-BD54-F9B44DDD6DF5}" type="datetimeFigureOut">
              <a:rPr lang="pt-BR" smtClean="0"/>
              <a:t>11/06/2026</a:t>
            </a:fld>
            <a:endParaRPr lang="pt-BR"/>
          </a:p>
        </p:txBody>
      </p:sp>
      <p:sp>
        <p:nvSpPr>
          <p:cNvPr id="5" name="Espaço Reservado para Rodapé 4">
            <a:extLst>
              <a:ext uri="{FF2B5EF4-FFF2-40B4-BE49-F238E27FC236}">
                <a16:creationId xmlns:a16="http://schemas.microsoft.com/office/drawing/2014/main" id="{F7493B3E-E875-5D24-46F0-1CF2FFBE93A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FB217FA-90A0-4A16-98A1-B8CB542C39E7}"/>
              </a:ext>
            </a:extLst>
          </p:cNvPr>
          <p:cNvSpPr>
            <a:spLocks noGrp="1"/>
          </p:cNvSpPr>
          <p:nvPr>
            <p:ph type="sldNum" sz="quarter" idx="12"/>
          </p:nvPr>
        </p:nvSpPr>
        <p:spPr/>
        <p:txBody>
          <a:bodyPr/>
          <a:lstStyle/>
          <a:p>
            <a:fld id="{43F37578-C0AE-4F7F-A61E-593354ED149C}" type="slidenum">
              <a:rPr lang="pt-BR" smtClean="0"/>
              <a:t>‹nº›</a:t>
            </a:fld>
            <a:endParaRPr lang="pt-BR"/>
          </a:p>
        </p:txBody>
      </p:sp>
    </p:spTree>
    <p:extLst>
      <p:ext uri="{BB962C8B-B14F-4D97-AF65-F5344CB8AC3E}">
        <p14:creationId xmlns:p14="http://schemas.microsoft.com/office/powerpoint/2010/main" val="122312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D7B1B09-D943-4596-112F-66AFCB54BD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49BE309-A38C-24AD-6E5F-BF021E17E6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D6AAA38-BE4C-8346-DF64-9B4EE5C02F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11FB6D-9C54-48D2-BD54-F9B44DDD6DF5}" type="datetimeFigureOut">
              <a:rPr lang="pt-BR" smtClean="0"/>
              <a:t>11/06/2026</a:t>
            </a:fld>
            <a:endParaRPr lang="pt-BR"/>
          </a:p>
        </p:txBody>
      </p:sp>
      <p:sp>
        <p:nvSpPr>
          <p:cNvPr id="5" name="Espaço Reservado para Rodapé 4">
            <a:extLst>
              <a:ext uri="{FF2B5EF4-FFF2-40B4-BE49-F238E27FC236}">
                <a16:creationId xmlns:a16="http://schemas.microsoft.com/office/drawing/2014/main" id="{3029C759-6380-E949-119C-D257F82306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54017E9-41D4-DF98-9430-2936F75A5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37578-C0AE-4F7F-A61E-593354ED149C}" type="slidenum">
              <a:rPr lang="pt-BR" smtClean="0"/>
              <a:t>‹nº›</a:t>
            </a:fld>
            <a:endParaRPr lang="pt-BR"/>
          </a:p>
        </p:txBody>
      </p:sp>
    </p:spTree>
    <p:extLst>
      <p:ext uri="{BB962C8B-B14F-4D97-AF65-F5344CB8AC3E}">
        <p14:creationId xmlns:p14="http://schemas.microsoft.com/office/powerpoint/2010/main" val="327024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9FCC9A0-DDC7-40A7-7D09-1E98C92CB2ED}"/>
              </a:ext>
            </a:extLst>
          </p:cNvPr>
          <p:cNvSpPr>
            <a:spLocks noGrp="1"/>
          </p:cNvSpPr>
          <p:nvPr>
            <p:ph type="title"/>
          </p:nvPr>
        </p:nvSpPr>
        <p:spPr>
          <a:xfrm>
            <a:off x="480060" y="1188720"/>
            <a:ext cx="11159490" cy="469979"/>
          </a:xfrm>
        </p:spPr>
        <p:txBody>
          <a:bodyPr>
            <a:normAutofit/>
          </a:bodyPr>
          <a:lstStyle/>
          <a:p>
            <a:r>
              <a:rPr lang="pt-BR" sz="2400" dirty="0"/>
              <a:t>É obrigatório desde 2010, podemos deixar sem a data.</a:t>
            </a:r>
          </a:p>
        </p:txBody>
      </p:sp>
      <p:pic>
        <p:nvPicPr>
          <p:cNvPr id="6" name="Imagem 5">
            <a:extLst>
              <a:ext uri="{FF2B5EF4-FFF2-40B4-BE49-F238E27FC236}">
                <a16:creationId xmlns:a16="http://schemas.microsoft.com/office/drawing/2014/main" id="{FB361D99-C58E-38D6-5EE7-09BE91BFE759}"/>
              </a:ext>
            </a:extLst>
          </p:cNvPr>
          <p:cNvPicPr>
            <a:picLocks noChangeAspect="1"/>
          </p:cNvPicPr>
          <p:nvPr/>
        </p:nvPicPr>
        <p:blipFill>
          <a:blip r:embed="rId2"/>
          <a:stretch>
            <a:fillRect/>
          </a:stretch>
        </p:blipFill>
        <p:spPr>
          <a:xfrm>
            <a:off x="-10961" y="1580990"/>
            <a:ext cx="12202961" cy="4671220"/>
          </a:xfrm>
          <a:prstGeom prst="rect">
            <a:avLst/>
          </a:prstGeom>
        </p:spPr>
      </p:pic>
      <p:cxnSp>
        <p:nvCxnSpPr>
          <p:cNvPr id="8" name="Conector reto 7">
            <a:extLst>
              <a:ext uri="{FF2B5EF4-FFF2-40B4-BE49-F238E27FC236}">
                <a16:creationId xmlns:a16="http://schemas.microsoft.com/office/drawing/2014/main" id="{E69609CA-2785-9830-098A-3BEF94F7AB3B}"/>
              </a:ext>
            </a:extLst>
          </p:cNvPr>
          <p:cNvCxnSpPr>
            <a:cxnSpLocks/>
          </p:cNvCxnSpPr>
          <p:nvPr/>
        </p:nvCxnSpPr>
        <p:spPr>
          <a:xfrm>
            <a:off x="6096000" y="3371850"/>
            <a:ext cx="132207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ítulo 3">
            <a:extLst>
              <a:ext uri="{FF2B5EF4-FFF2-40B4-BE49-F238E27FC236}">
                <a16:creationId xmlns:a16="http://schemas.microsoft.com/office/drawing/2014/main" id="{5FEF8DED-1075-94F7-1CD2-DC3481990725}"/>
              </a:ext>
            </a:extLst>
          </p:cNvPr>
          <p:cNvSpPr txBox="1">
            <a:spLocks/>
          </p:cNvSpPr>
          <p:nvPr/>
        </p:nvSpPr>
        <p:spPr>
          <a:xfrm>
            <a:off x="1123950" y="199747"/>
            <a:ext cx="10515600" cy="7664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dirty="0"/>
              <a:t>LP Previsio</a:t>
            </a:r>
          </a:p>
        </p:txBody>
      </p:sp>
    </p:spTree>
    <p:extLst>
      <p:ext uri="{BB962C8B-B14F-4D97-AF65-F5344CB8AC3E}">
        <p14:creationId xmlns:p14="http://schemas.microsoft.com/office/powerpoint/2010/main" val="909499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105DD-2E8C-2D1A-5110-D1BEA6D5960C}"/>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DE8BCEB9-293E-9928-3988-F6522E896F6E}"/>
              </a:ext>
            </a:extLst>
          </p:cNvPr>
          <p:cNvSpPr>
            <a:spLocks noGrp="1"/>
          </p:cNvSpPr>
          <p:nvPr>
            <p:ph type="title"/>
          </p:nvPr>
        </p:nvSpPr>
        <p:spPr>
          <a:xfrm>
            <a:off x="198119" y="444925"/>
            <a:ext cx="11795761" cy="978193"/>
          </a:xfrm>
        </p:spPr>
        <p:txBody>
          <a:bodyPr>
            <a:noAutofit/>
          </a:bodyPr>
          <a:lstStyle/>
          <a:p>
            <a:r>
              <a:rPr lang="pt-BR" sz="2000" dirty="0"/>
              <a:t>1) Se faz a apreciação de risco</a:t>
            </a:r>
            <a:br>
              <a:rPr lang="pt-BR" sz="2000" dirty="0"/>
            </a:br>
            <a:r>
              <a:rPr lang="pt-BR" sz="2000" dirty="0"/>
              <a:t>2) Com base na apreciação de riscos é que se obtém um  inventário de risco (lista priorização por risco). </a:t>
            </a:r>
            <a:br>
              <a:rPr lang="pt-BR" sz="2000" dirty="0"/>
            </a:br>
            <a:br>
              <a:rPr lang="pt-BR" sz="2000" dirty="0"/>
            </a:br>
            <a:r>
              <a:rPr lang="pt-BR" sz="2000" dirty="0"/>
              <a:t>A apreciação vai analisar o HRN de cada máquina, o inventário é uma lista de todas as máquinas, cada uma com seu HRN, por ordem do maior para o menor. Quanto maior o HRN, maior o risco.</a:t>
            </a:r>
          </a:p>
        </p:txBody>
      </p:sp>
      <p:pic>
        <p:nvPicPr>
          <p:cNvPr id="3" name="Imagem 2">
            <a:extLst>
              <a:ext uri="{FF2B5EF4-FFF2-40B4-BE49-F238E27FC236}">
                <a16:creationId xmlns:a16="http://schemas.microsoft.com/office/drawing/2014/main" id="{123D7E62-953E-CFE8-B045-48ED4DD4676D}"/>
              </a:ext>
            </a:extLst>
          </p:cNvPr>
          <p:cNvPicPr>
            <a:picLocks noChangeAspect="1"/>
          </p:cNvPicPr>
          <p:nvPr/>
        </p:nvPicPr>
        <p:blipFill>
          <a:blip r:embed="rId2"/>
          <a:srcRect r="3084" b="12727"/>
          <a:stretch>
            <a:fillRect/>
          </a:stretch>
        </p:blipFill>
        <p:spPr>
          <a:xfrm>
            <a:off x="0" y="1783080"/>
            <a:ext cx="12192000" cy="5074920"/>
          </a:xfrm>
          <a:prstGeom prst="rect">
            <a:avLst/>
          </a:prstGeom>
        </p:spPr>
      </p:pic>
      <p:pic>
        <p:nvPicPr>
          <p:cNvPr id="7" name="Gráfico 6" descr="Seta com giro para a esquerda">
            <a:extLst>
              <a:ext uri="{FF2B5EF4-FFF2-40B4-BE49-F238E27FC236}">
                <a16:creationId xmlns:a16="http://schemas.microsoft.com/office/drawing/2014/main" id="{355CC207-CABB-8AF0-6980-A26C7AB4FA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86002">
            <a:off x="3707132" y="2971800"/>
            <a:ext cx="914400" cy="914400"/>
          </a:xfrm>
          <a:prstGeom prst="rect">
            <a:avLst/>
          </a:prstGeom>
        </p:spPr>
      </p:pic>
      <p:pic>
        <p:nvPicPr>
          <p:cNvPr id="11" name="Gráfico 10" descr="Seta com giro para a esquerda">
            <a:extLst>
              <a:ext uri="{FF2B5EF4-FFF2-40B4-BE49-F238E27FC236}">
                <a16:creationId xmlns:a16="http://schemas.microsoft.com/office/drawing/2014/main" id="{2FB61C83-EA3B-B6A8-E3C6-E1040A7476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3600962">
            <a:off x="3882389" y="4307251"/>
            <a:ext cx="914400" cy="914400"/>
          </a:xfrm>
          <a:prstGeom prst="rect">
            <a:avLst/>
          </a:prstGeom>
        </p:spPr>
      </p:pic>
    </p:spTree>
    <p:extLst>
      <p:ext uri="{BB962C8B-B14F-4D97-AF65-F5344CB8AC3E}">
        <p14:creationId xmlns:p14="http://schemas.microsoft.com/office/powerpoint/2010/main" val="2145203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A4B8D-FC7A-6AFF-ECA0-E34937055690}"/>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46C028A-2FA8-53A9-0691-2A767D5E543F}"/>
              </a:ext>
            </a:extLst>
          </p:cNvPr>
          <p:cNvSpPr>
            <a:spLocks noGrp="1"/>
          </p:cNvSpPr>
          <p:nvPr>
            <p:ph type="title"/>
          </p:nvPr>
        </p:nvSpPr>
        <p:spPr>
          <a:xfrm>
            <a:off x="198120" y="262046"/>
            <a:ext cx="11795761" cy="2034542"/>
          </a:xfrm>
        </p:spPr>
        <p:txBody>
          <a:bodyPr>
            <a:noAutofit/>
          </a:bodyPr>
          <a:lstStyle/>
          <a:p>
            <a:r>
              <a:rPr lang="pt-BR" sz="2000" dirty="0"/>
              <a:t>É normal ocorrer perda de produtividade quando se faz uma adequação de segurança. Não podemos prometer que não perca pois seria propaganda enganosa. Remover essa frase.</a:t>
            </a:r>
            <a:br>
              <a:rPr lang="pt-BR" sz="2000" dirty="0"/>
            </a:br>
            <a:br>
              <a:rPr lang="pt-BR" sz="2000" dirty="0"/>
            </a:br>
            <a:r>
              <a:rPr lang="pt-BR" sz="2000" dirty="0"/>
              <a:t>Aqui o que pode ter gerado essa confusão é que a Coda atua com  automação, que em outro tipo de projeto, voltado a automação de processos, posso evitar que o operador esteja operando a máquina e dessa forma não preciso fazer uma proteção especifica que perde produção, apenas enclausura o risco e deixo o sistema trabalhar, e pensando em otimizar a eficiência. Mas são coisas distintas.</a:t>
            </a:r>
          </a:p>
        </p:txBody>
      </p:sp>
      <p:pic>
        <p:nvPicPr>
          <p:cNvPr id="5" name="Imagem 4">
            <a:extLst>
              <a:ext uri="{FF2B5EF4-FFF2-40B4-BE49-F238E27FC236}">
                <a16:creationId xmlns:a16="http://schemas.microsoft.com/office/drawing/2014/main" id="{91275C5F-7E02-E141-5B1B-42CDAF2E2007}"/>
              </a:ext>
            </a:extLst>
          </p:cNvPr>
          <p:cNvPicPr>
            <a:picLocks noChangeAspect="1"/>
          </p:cNvPicPr>
          <p:nvPr/>
        </p:nvPicPr>
        <p:blipFill>
          <a:blip r:embed="rId2"/>
          <a:srcRect t="7977"/>
          <a:stretch>
            <a:fillRect/>
          </a:stretch>
        </p:blipFill>
        <p:spPr>
          <a:xfrm>
            <a:off x="198119" y="2296588"/>
            <a:ext cx="11521428" cy="4299366"/>
          </a:xfrm>
          <a:prstGeom prst="rect">
            <a:avLst/>
          </a:prstGeom>
        </p:spPr>
      </p:pic>
      <p:cxnSp>
        <p:nvCxnSpPr>
          <p:cNvPr id="6" name="Conector reto 5">
            <a:extLst>
              <a:ext uri="{FF2B5EF4-FFF2-40B4-BE49-F238E27FC236}">
                <a16:creationId xmlns:a16="http://schemas.microsoft.com/office/drawing/2014/main" id="{FC2A8FE7-516C-54FA-C678-6E12F8C27B0C}"/>
              </a:ext>
            </a:extLst>
          </p:cNvPr>
          <p:cNvCxnSpPr>
            <a:cxnSpLocks/>
          </p:cNvCxnSpPr>
          <p:nvPr/>
        </p:nvCxnSpPr>
        <p:spPr>
          <a:xfrm>
            <a:off x="6096000" y="4537710"/>
            <a:ext cx="272796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858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9185F-EE20-035E-85BA-91EE21780B41}"/>
            </a:ext>
          </a:extLst>
        </p:cNvPr>
        <p:cNvGrpSpPr/>
        <p:nvPr/>
      </p:nvGrpSpPr>
      <p:grpSpPr>
        <a:xfrm>
          <a:off x="0" y="0"/>
          <a:ext cx="0" cy="0"/>
          <a:chOff x="0" y="0"/>
          <a:chExt cx="0" cy="0"/>
        </a:xfrm>
      </p:grpSpPr>
      <p:pic>
        <p:nvPicPr>
          <p:cNvPr id="3" name="Imagem 2">
            <a:extLst>
              <a:ext uri="{FF2B5EF4-FFF2-40B4-BE49-F238E27FC236}">
                <a16:creationId xmlns:a16="http://schemas.microsoft.com/office/drawing/2014/main" id="{63168AAF-357A-49B6-87CF-2ECE71F60875}"/>
              </a:ext>
            </a:extLst>
          </p:cNvPr>
          <p:cNvPicPr>
            <a:picLocks noChangeAspect="1"/>
          </p:cNvPicPr>
          <p:nvPr/>
        </p:nvPicPr>
        <p:blipFill>
          <a:blip r:embed="rId2"/>
          <a:stretch>
            <a:fillRect/>
          </a:stretch>
        </p:blipFill>
        <p:spPr>
          <a:xfrm>
            <a:off x="0" y="491235"/>
            <a:ext cx="9053345" cy="5875529"/>
          </a:xfrm>
          <a:prstGeom prst="rect">
            <a:avLst/>
          </a:prstGeom>
        </p:spPr>
      </p:pic>
      <p:sp>
        <p:nvSpPr>
          <p:cNvPr id="9" name="Retângulo 8">
            <a:extLst>
              <a:ext uri="{FF2B5EF4-FFF2-40B4-BE49-F238E27FC236}">
                <a16:creationId xmlns:a16="http://schemas.microsoft.com/office/drawing/2014/main" id="{7FA92FB0-5659-B8ED-1BA1-05FA013E9877}"/>
              </a:ext>
            </a:extLst>
          </p:cNvPr>
          <p:cNvSpPr/>
          <p:nvPr/>
        </p:nvSpPr>
        <p:spPr>
          <a:xfrm>
            <a:off x="251460" y="3611880"/>
            <a:ext cx="1645920" cy="457200"/>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CBD6AF34-C7DE-86F6-535D-E724663E2295}"/>
              </a:ext>
            </a:extLst>
          </p:cNvPr>
          <p:cNvSpPr/>
          <p:nvPr/>
        </p:nvSpPr>
        <p:spPr>
          <a:xfrm>
            <a:off x="9175265" y="525779"/>
            <a:ext cx="2887195" cy="3188971"/>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ítulo 3">
            <a:extLst>
              <a:ext uri="{FF2B5EF4-FFF2-40B4-BE49-F238E27FC236}">
                <a16:creationId xmlns:a16="http://schemas.microsoft.com/office/drawing/2014/main" id="{FCC40A1E-C102-7EE9-A3EE-8D6BCF4F5D8E}"/>
              </a:ext>
            </a:extLst>
          </p:cNvPr>
          <p:cNvSpPr txBox="1">
            <a:spLocks/>
          </p:cNvSpPr>
          <p:nvPr/>
        </p:nvSpPr>
        <p:spPr>
          <a:xfrm>
            <a:off x="9186696" y="1691640"/>
            <a:ext cx="2887195" cy="11620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1800" dirty="0">
                <a:latin typeface="Roboto" panose="02000000000000000000" pitchFamily="2" charset="0"/>
                <a:ea typeface="Roboto" panose="02000000000000000000" pitchFamily="2" charset="0"/>
                <a:cs typeface="Roboto" panose="02000000000000000000" pitchFamily="2" charset="0"/>
              </a:rPr>
              <a:t>Mudaria para algo como:</a:t>
            </a:r>
          </a:p>
          <a:p>
            <a:r>
              <a:rPr lang="pt-BR" sz="1800" b="1" dirty="0">
                <a:latin typeface="Roboto" panose="02000000000000000000" pitchFamily="2" charset="0"/>
                <a:ea typeface="Roboto" panose="02000000000000000000" pitchFamily="2" charset="0"/>
                <a:cs typeface="Roboto" panose="02000000000000000000" pitchFamily="2" charset="0"/>
              </a:rPr>
              <a:t>“Checklist de Risco Iminente NR12 sem custo”.</a:t>
            </a:r>
          </a:p>
          <a:p>
            <a:r>
              <a:rPr lang="pt-BR" sz="1800" dirty="0">
                <a:latin typeface="Roboto" panose="02000000000000000000" pitchFamily="2" charset="0"/>
                <a:ea typeface="Roboto" panose="02000000000000000000" pitchFamily="2" charset="0"/>
                <a:cs typeface="Roboto" panose="02000000000000000000" pitchFamily="2" charset="0"/>
              </a:rPr>
              <a:t>Porque o diagnóstico real é dado pela análise de risco (máquina) e para um parque fabril, o conjunto de análises de risco forma o inventário de risco. Esse é um trabalho demorado, que  nós vendemos.</a:t>
            </a:r>
          </a:p>
          <a:p>
            <a:endParaRPr lang="pt-BR" sz="2000" dirty="0"/>
          </a:p>
        </p:txBody>
      </p:sp>
      <p:sp>
        <p:nvSpPr>
          <p:cNvPr id="14" name="Retângulo 13">
            <a:extLst>
              <a:ext uri="{FF2B5EF4-FFF2-40B4-BE49-F238E27FC236}">
                <a16:creationId xmlns:a16="http://schemas.microsoft.com/office/drawing/2014/main" id="{24C2530D-7883-3BF5-A677-75546A7C97F8}"/>
              </a:ext>
            </a:extLst>
          </p:cNvPr>
          <p:cNvSpPr/>
          <p:nvPr/>
        </p:nvSpPr>
        <p:spPr>
          <a:xfrm>
            <a:off x="251460" y="4857750"/>
            <a:ext cx="4377690" cy="1463040"/>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72FE4343-5CED-947F-7009-E9D9EBE75420}"/>
              </a:ext>
            </a:extLst>
          </p:cNvPr>
          <p:cNvSpPr txBox="1"/>
          <p:nvPr/>
        </p:nvSpPr>
        <p:spPr>
          <a:xfrm>
            <a:off x="1897380" y="3977640"/>
            <a:ext cx="251460" cy="369332"/>
          </a:xfrm>
          <a:prstGeom prst="rect">
            <a:avLst/>
          </a:prstGeom>
          <a:noFill/>
        </p:spPr>
        <p:txBody>
          <a:bodyPr wrap="square" rtlCol="0">
            <a:spAutoFit/>
          </a:bodyPr>
          <a:lstStyle/>
          <a:p>
            <a:r>
              <a:rPr lang="pt-BR" dirty="0">
                <a:solidFill>
                  <a:srgbClr val="FFC000"/>
                </a:solidFill>
              </a:rPr>
              <a:t>1</a:t>
            </a:r>
          </a:p>
        </p:txBody>
      </p:sp>
      <p:sp>
        <p:nvSpPr>
          <p:cNvPr id="17" name="CaixaDeTexto 16">
            <a:extLst>
              <a:ext uri="{FF2B5EF4-FFF2-40B4-BE49-F238E27FC236}">
                <a16:creationId xmlns:a16="http://schemas.microsoft.com/office/drawing/2014/main" id="{B212F05A-64B8-6933-5CCE-6DE591E3F748}"/>
              </a:ext>
            </a:extLst>
          </p:cNvPr>
          <p:cNvSpPr txBox="1"/>
          <p:nvPr/>
        </p:nvSpPr>
        <p:spPr>
          <a:xfrm>
            <a:off x="4143376" y="4543663"/>
            <a:ext cx="251460" cy="369332"/>
          </a:xfrm>
          <a:prstGeom prst="rect">
            <a:avLst/>
          </a:prstGeom>
          <a:noFill/>
        </p:spPr>
        <p:txBody>
          <a:bodyPr wrap="square" rtlCol="0">
            <a:spAutoFit/>
          </a:bodyPr>
          <a:lstStyle/>
          <a:p>
            <a:r>
              <a:rPr lang="pt-BR" dirty="0">
                <a:solidFill>
                  <a:srgbClr val="FFC000"/>
                </a:solidFill>
              </a:rPr>
              <a:t>2</a:t>
            </a:r>
          </a:p>
        </p:txBody>
      </p:sp>
      <p:sp>
        <p:nvSpPr>
          <p:cNvPr id="21" name="CaixaDeTexto 20">
            <a:extLst>
              <a:ext uri="{FF2B5EF4-FFF2-40B4-BE49-F238E27FC236}">
                <a16:creationId xmlns:a16="http://schemas.microsoft.com/office/drawing/2014/main" id="{21F9CA05-5CDF-A998-0B87-05EBA250707B}"/>
              </a:ext>
            </a:extLst>
          </p:cNvPr>
          <p:cNvSpPr txBox="1"/>
          <p:nvPr/>
        </p:nvSpPr>
        <p:spPr>
          <a:xfrm>
            <a:off x="9244238" y="217170"/>
            <a:ext cx="251460" cy="369332"/>
          </a:xfrm>
          <a:prstGeom prst="rect">
            <a:avLst/>
          </a:prstGeom>
          <a:noFill/>
        </p:spPr>
        <p:txBody>
          <a:bodyPr wrap="square" rtlCol="0">
            <a:spAutoFit/>
          </a:bodyPr>
          <a:lstStyle/>
          <a:p>
            <a:r>
              <a:rPr lang="pt-BR" dirty="0">
                <a:solidFill>
                  <a:srgbClr val="FFC000"/>
                </a:solidFill>
              </a:rPr>
              <a:t>1</a:t>
            </a:r>
          </a:p>
        </p:txBody>
      </p:sp>
      <p:sp>
        <p:nvSpPr>
          <p:cNvPr id="25" name="CaixaDeTexto 24">
            <a:extLst>
              <a:ext uri="{FF2B5EF4-FFF2-40B4-BE49-F238E27FC236}">
                <a16:creationId xmlns:a16="http://schemas.microsoft.com/office/drawing/2014/main" id="{9AEDC552-A29F-D2F2-BA9E-FED647C476D6}"/>
              </a:ext>
            </a:extLst>
          </p:cNvPr>
          <p:cNvSpPr txBox="1"/>
          <p:nvPr/>
        </p:nvSpPr>
        <p:spPr>
          <a:xfrm>
            <a:off x="9175265" y="3880606"/>
            <a:ext cx="251460" cy="369332"/>
          </a:xfrm>
          <a:prstGeom prst="rect">
            <a:avLst/>
          </a:prstGeom>
          <a:noFill/>
        </p:spPr>
        <p:txBody>
          <a:bodyPr wrap="square" rtlCol="0">
            <a:spAutoFit/>
          </a:bodyPr>
          <a:lstStyle/>
          <a:p>
            <a:r>
              <a:rPr lang="pt-BR" dirty="0">
                <a:solidFill>
                  <a:srgbClr val="FFC000"/>
                </a:solidFill>
              </a:rPr>
              <a:t>2</a:t>
            </a:r>
          </a:p>
        </p:txBody>
      </p:sp>
      <p:sp>
        <p:nvSpPr>
          <p:cNvPr id="27" name="Título 3">
            <a:extLst>
              <a:ext uri="{FF2B5EF4-FFF2-40B4-BE49-F238E27FC236}">
                <a16:creationId xmlns:a16="http://schemas.microsoft.com/office/drawing/2014/main" id="{14B2082D-BD3A-D5D3-02B9-81909DE1E1EF}"/>
              </a:ext>
            </a:extLst>
          </p:cNvPr>
          <p:cNvSpPr txBox="1">
            <a:spLocks/>
          </p:cNvSpPr>
          <p:nvPr/>
        </p:nvSpPr>
        <p:spPr>
          <a:xfrm>
            <a:off x="9175265" y="4249938"/>
            <a:ext cx="2887195" cy="2368032"/>
          </a:xfrm>
          <a:prstGeom prst="rect">
            <a:avLst/>
          </a:prstGeom>
          <a:ln>
            <a:solidFill>
              <a:srgbClr val="FFC000"/>
            </a:solidFill>
          </a:ln>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1800" dirty="0">
                <a:latin typeface="Roboto" panose="02000000000000000000" pitchFamily="2" charset="0"/>
                <a:ea typeface="Roboto" panose="02000000000000000000" pitchFamily="2" charset="0"/>
                <a:cs typeface="Roboto" panose="02000000000000000000" pitchFamily="2" charset="0"/>
              </a:rPr>
              <a:t>Aqui eu  mudaria para algo como:</a:t>
            </a:r>
          </a:p>
          <a:p>
            <a:endParaRPr lang="pt-BR" sz="1800" dirty="0">
              <a:latin typeface="Roboto" panose="02000000000000000000" pitchFamily="2" charset="0"/>
              <a:ea typeface="Roboto" panose="02000000000000000000" pitchFamily="2" charset="0"/>
              <a:cs typeface="Roboto" panose="02000000000000000000" pitchFamily="2" charset="0"/>
            </a:endParaRPr>
          </a:p>
          <a:p>
            <a:r>
              <a:rPr lang="pt-BR" sz="1800" dirty="0">
                <a:latin typeface="Roboto" panose="02000000000000000000" pitchFamily="2" charset="0"/>
                <a:ea typeface="Roboto" panose="02000000000000000000" pitchFamily="2" charset="0"/>
                <a:cs typeface="Roboto" panose="02000000000000000000" pitchFamily="2" charset="0"/>
              </a:rPr>
              <a:t>Ainda pesquisando?</a:t>
            </a:r>
          </a:p>
          <a:p>
            <a:r>
              <a:rPr lang="pt-BR" sz="1800" dirty="0">
                <a:latin typeface="Roboto" panose="02000000000000000000" pitchFamily="2" charset="0"/>
                <a:ea typeface="Roboto" panose="02000000000000000000" pitchFamily="2" charset="0"/>
                <a:cs typeface="Roboto" panose="02000000000000000000" pitchFamily="2" charset="0"/>
              </a:rPr>
              <a:t>Faça gratuitamente o nosso Checklist de Risco Iminente NR12 para saber se sua operação passaria em uma fiscalização hoje.</a:t>
            </a:r>
          </a:p>
          <a:p>
            <a:endParaRPr lang="pt-BR" sz="1800" dirty="0">
              <a:latin typeface="Roboto" panose="02000000000000000000" pitchFamily="2" charset="0"/>
              <a:ea typeface="Roboto" panose="02000000000000000000" pitchFamily="2" charset="0"/>
              <a:cs typeface="Roboto" panose="02000000000000000000" pitchFamily="2" charset="0"/>
            </a:endParaRPr>
          </a:p>
          <a:p>
            <a:endParaRPr lang="pt-BR" sz="1800" dirty="0">
              <a:latin typeface="Roboto" panose="02000000000000000000" pitchFamily="2" charset="0"/>
              <a:ea typeface="Roboto" panose="02000000000000000000" pitchFamily="2" charset="0"/>
              <a:cs typeface="Roboto" panose="02000000000000000000" pitchFamily="2" charset="0"/>
            </a:endParaRPr>
          </a:p>
          <a:p>
            <a:endParaRPr lang="pt-BR" sz="2000" dirty="0"/>
          </a:p>
        </p:txBody>
      </p:sp>
    </p:spTree>
    <p:extLst>
      <p:ext uri="{BB962C8B-B14F-4D97-AF65-F5344CB8AC3E}">
        <p14:creationId xmlns:p14="http://schemas.microsoft.com/office/powerpoint/2010/main" val="2802273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30441-2849-4108-0BBE-55AE9874A3A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DCB8306B-E476-47BB-6755-F77CE7E35BB4}"/>
              </a:ext>
            </a:extLst>
          </p:cNvPr>
          <p:cNvSpPr txBox="1">
            <a:spLocks/>
          </p:cNvSpPr>
          <p:nvPr/>
        </p:nvSpPr>
        <p:spPr>
          <a:xfrm>
            <a:off x="777240" y="491235"/>
            <a:ext cx="11163300" cy="6244862"/>
          </a:xfrm>
          <a:prstGeom prst="rect">
            <a:avLst/>
          </a:prstGeom>
          <a:ln>
            <a:solidFill>
              <a:srgbClr val="FFC000"/>
            </a:solidFill>
          </a:ln>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t-BR" sz="1600" dirty="0">
                <a:latin typeface="Roboto" panose="02000000000000000000" pitchFamily="2" charset="0"/>
                <a:ea typeface="Roboto" panose="02000000000000000000" pitchFamily="2" charset="0"/>
                <a:cs typeface="Roboto" panose="02000000000000000000" pitchFamily="2" charset="0"/>
              </a:rPr>
              <a:t>Teste:</a:t>
            </a:r>
          </a:p>
          <a:p>
            <a:r>
              <a:rPr lang="pt-BR" sz="1600" dirty="0">
                <a:latin typeface="Roboto" panose="02000000000000000000" pitchFamily="2" charset="0"/>
                <a:ea typeface="Roboto" panose="02000000000000000000" pitchFamily="2" charset="0"/>
                <a:cs typeface="Roboto" panose="02000000000000000000" pitchFamily="2" charset="0"/>
              </a:rPr>
              <a:t>Checklist de Risco Iminente NR12: Sua operação passaria em uma fiscalização hoje?</a:t>
            </a:r>
          </a:p>
          <a:p>
            <a:endParaRPr lang="pt-BR" sz="1600" dirty="0">
              <a:latin typeface="Roboto" panose="02000000000000000000" pitchFamily="2" charset="0"/>
              <a:ea typeface="Roboto" panose="02000000000000000000" pitchFamily="2" charset="0"/>
              <a:cs typeface="Roboto" panose="02000000000000000000" pitchFamily="2" charset="0"/>
            </a:endParaRPr>
          </a:p>
          <a:p>
            <a:r>
              <a:rPr lang="pt-BR" sz="1600" dirty="0">
                <a:latin typeface="Roboto" panose="02000000000000000000" pitchFamily="2" charset="0"/>
                <a:ea typeface="Roboto" panose="02000000000000000000" pitchFamily="2" charset="0"/>
                <a:cs typeface="Roboto" panose="02000000000000000000" pitchFamily="2" charset="0"/>
              </a:rPr>
              <a:t>1.Inventário: Você possui o Inventário de Máquinas e Equipamentos 100% atualizado?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2. Documentação: Todas as máquinas da sua operação possuem uma Apreciação/Análise de Risco válida, documentada e assinada por profissional legalmente habilitado?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3. Proteções e Interfaces: As zonas de perigo das máquinas possuem proteções (fixas ou móveis) com sistema de intertravamento corretamente ligado a uma interface de segurança?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4. Emergência e Rearme: As máquinas possuem botões de parada de emergência de fácil acesso e contam com sistema de rearme manual de segurança após paradas?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5. Painéis Elétricos: Os painéis elétricos das máquinas estão trancados, sinalizados e sem nenhuma "parte viva" (fios descascados/contatos) exposta?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6. Manuais: Existem manuais de operação e manutenção, rigorosamente em português, disponíveis e de fácil acesso para todos os operadores?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7. Capacitação: Seus operadores e equipe de manutenção possuem treinamento específico, periódico e documentado sobre os riscos da NR12? ( ) Sim ( ) Não ( ) Não sei</a:t>
            </a:r>
          </a:p>
          <a:p>
            <a:r>
              <a:rPr lang="pt-BR" sz="1600" dirty="0">
                <a:latin typeface="Roboto" panose="02000000000000000000" pitchFamily="2" charset="0"/>
                <a:ea typeface="Roboto" panose="02000000000000000000" pitchFamily="2" charset="0"/>
                <a:cs typeface="Roboto" panose="02000000000000000000" pitchFamily="2" charset="0"/>
              </a:rPr>
              <a:t>8. Procedimentos: Existe um procedimento formal e prático de bloqueio e etiquetagem (LOTO) para a manutenção segura das máquinas? ( ) Sim ( ) Não ( ) Não sei</a:t>
            </a:r>
          </a:p>
          <a:p>
            <a:endParaRPr lang="pt-BR" sz="1600" dirty="0">
              <a:latin typeface="Roboto" panose="02000000000000000000" pitchFamily="2" charset="0"/>
              <a:ea typeface="Roboto" panose="02000000000000000000" pitchFamily="2" charset="0"/>
              <a:cs typeface="Roboto" panose="02000000000000000000" pitchFamily="2" charset="0"/>
            </a:endParaRPr>
          </a:p>
          <a:p>
            <a:r>
              <a:rPr lang="pt-BR" sz="1600" dirty="0">
                <a:latin typeface="Roboto" panose="02000000000000000000" pitchFamily="2" charset="0"/>
                <a:ea typeface="Roboto" panose="02000000000000000000" pitchFamily="2" charset="0"/>
                <a:cs typeface="Roboto" panose="02000000000000000000" pitchFamily="2" charset="0"/>
              </a:rPr>
              <a:t>O seu Resultado:</a:t>
            </a:r>
          </a:p>
          <a:p>
            <a:endParaRPr lang="pt-BR" sz="1600" dirty="0">
              <a:latin typeface="Roboto" panose="02000000000000000000" pitchFamily="2" charset="0"/>
              <a:ea typeface="Roboto" panose="02000000000000000000" pitchFamily="2" charset="0"/>
              <a:cs typeface="Roboto" panose="02000000000000000000" pitchFamily="2" charset="0"/>
            </a:endParaRPr>
          </a:p>
          <a:p>
            <a:r>
              <a:rPr lang="pt-BR" sz="1600" dirty="0">
                <a:latin typeface="Roboto" panose="02000000000000000000" pitchFamily="2" charset="0"/>
                <a:ea typeface="Roboto" panose="02000000000000000000" pitchFamily="2" charset="0"/>
                <a:cs typeface="Roboto" panose="02000000000000000000" pitchFamily="2" charset="0"/>
              </a:rPr>
              <a:t>Respondeu "Não" ou "Não sei" para 1 ou mais perguntas? Sua empresa está em Risco Crítico. Uma fiscalização do Ministério do Trabalho hoje resultaria em multas pesadas ou até na interdição das suas máquinas, parando sua produção. Você precisa de um diagnóstico técnico formal.</a:t>
            </a:r>
          </a:p>
          <a:p>
            <a:r>
              <a:rPr lang="pt-BR" sz="1600" dirty="0">
                <a:latin typeface="Roboto" panose="02000000000000000000" pitchFamily="2" charset="0"/>
                <a:ea typeface="Roboto" panose="02000000000000000000" pitchFamily="2" charset="0"/>
                <a:cs typeface="Roboto" panose="02000000000000000000" pitchFamily="2" charset="0"/>
              </a:rPr>
              <a:t>Respondeu "Sim" para todas? Parabéns! Mas lembre-se: a segurança é contínua. Alterou o layout, trocou componentes ou comprou máquina nova? A adequação precisa ser revista.</a:t>
            </a:r>
          </a:p>
          <a:p>
            <a:endParaRPr lang="pt-BR" sz="1600" dirty="0">
              <a:latin typeface="Roboto" panose="02000000000000000000" pitchFamily="2" charset="0"/>
              <a:ea typeface="Roboto" panose="02000000000000000000" pitchFamily="2" charset="0"/>
              <a:cs typeface="Roboto" panose="02000000000000000000" pitchFamily="2" charset="0"/>
            </a:endParaRPr>
          </a:p>
          <a:p>
            <a:r>
              <a:rPr lang="pt-BR" sz="1600" dirty="0">
                <a:latin typeface="Roboto" panose="02000000000000000000" pitchFamily="2" charset="0"/>
                <a:ea typeface="Roboto" panose="02000000000000000000" pitchFamily="2" charset="0"/>
                <a:cs typeface="Roboto" panose="02000000000000000000" pitchFamily="2" charset="0"/>
              </a:rPr>
              <a:t>BOTÃO </a:t>
            </a:r>
            <a:r>
              <a:rPr lang="pt-BR" sz="1600" dirty="0">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 Quero falar com um Engenheiro da Previsio para regularizar minha situação.</a:t>
            </a:r>
            <a:endParaRPr lang="pt-BR" sz="1600" dirty="0">
              <a:latin typeface="Roboto" panose="02000000000000000000" pitchFamily="2" charset="0"/>
              <a:ea typeface="Roboto" panose="02000000000000000000" pitchFamily="2" charset="0"/>
              <a:cs typeface="Roboto" panose="02000000000000000000" pitchFamily="2" charset="0"/>
            </a:endParaRPr>
          </a:p>
          <a:p>
            <a:endParaRPr lang="pt-BR" sz="1600" dirty="0">
              <a:latin typeface="Roboto" panose="02000000000000000000" pitchFamily="2" charset="0"/>
              <a:ea typeface="Roboto" panose="02000000000000000000" pitchFamily="2" charset="0"/>
              <a:cs typeface="Roboto" panose="02000000000000000000" pitchFamily="2" charset="0"/>
            </a:endParaRPr>
          </a:p>
          <a:p>
            <a:endParaRPr lang="pt-BR" sz="1600" dirty="0">
              <a:latin typeface="Roboto" panose="02000000000000000000" pitchFamily="2" charset="0"/>
              <a:ea typeface="Roboto" panose="02000000000000000000" pitchFamily="2" charset="0"/>
              <a:cs typeface="Roboto" panose="02000000000000000000" pitchFamily="2" charset="0"/>
            </a:endParaRPr>
          </a:p>
          <a:p>
            <a:endParaRPr lang="pt-BR" sz="1600" dirty="0">
              <a:latin typeface="Roboto" panose="02000000000000000000" pitchFamily="2" charset="0"/>
              <a:ea typeface="Roboto" panose="02000000000000000000" pitchFamily="2" charset="0"/>
              <a:cs typeface="Roboto" panose="02000000000000000000" pitchFamily="2" charset="0"/>
            </a:endParaRPr>
          </a:p>
          <a:p>
            <a:endParaRPr lang="pt-BR" sz="1600" dirty="0">
              <a:latin typeface="Roboto" panose="02000000000000000000" pitchFamily="2" charset="0"/>
              <a:ea typeface="Roboto" panose="02000000000000000000" pitchFamily="2" charset="0"/>
              <a:cs typeface="Roboto" panose="02000000000000000000" pitchFamily="2" charset="0"/>
            </a:endParaRPr>
          </a:p>
          <a:p>
            <a:endParaRPr lang="pt-BR" sz="1600" dirty="0">
              <a:latin typeface="Roboto" panose="02000000000000000000" pitchFamily="2" charset="0"/>
              <a:ea typeface="Roboto" panose="02000000000000000000" pitchFamily="2" charset="0"/>
              <a:cs typeface="Roboto" panose="02000000000000000000" pitchFamily="2" charset="0"/>
            </a:endParaRPr>
          </a:p>
          <a:p>
            <a:endParaRPr lang="pt-BR" sz="1800" dirty="0"/>
          </a:p>
        </p:txBody>
      </p:sp>
      <p:sp>
        <p:nvSpPr>
          <p:cNvPr id="8" name="CaixaDeTexto 7">
            <a:extLst>
              <a:ext uri="{FF2B5EF4-FFF2-40B4-BE49-F238E27FC236}">
                <a16:creationId xmlns:a16="http://schemas.microsoft.com/office/drawing/2014/main" id="{45B51463-813B-F059-38E7-4C102E3F4CC9}"/>
              </a:ext>
            </a:extLst>
          </p:cNvPr>
          <p:cNvSpPr txBox="1"/>
          <p:nvPr/>
        </p:nvSpPr>
        <p:spPr>
          <a:xfrm>
            <a:off x="365760" y="491235"/>
            <a:ext cx="251460" cy="369332"/>
          </a:xfrm>
          <a:prstGeom prst="rect">
            <a:avLst/>
          </a:prstGeom>
          <a:noFill/>
        </p:spPr>
        <p:txBody>
          <a:bodyPr wrap="square" rtlCol="0">
            <a:spAutoFit/>
          </a:bodyPr>
          <a:lstStyle/>
          <a:p>
            <a:r>
              <a:rPr lang="pt-BR" dirty="0">
                <a:solidFill>
                  <a:srgbClr val="FFC000"/>
                </a:solidFill>
              </a:rPr>
              <a:t>2</a:t>
            </a:r>
          </a:p>
        </p:txBody>
      </p:sp>
    </p:spTree>
    <p:extLst>
      <p:ext uri="{BB962C8B-B14F-4D97-AF65-F5344CB8AC3E}">
        <p14:creationId xmlns:p14="http://schemas.microsoft.com/office/powerpoint/2010/main" val="868325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39069-50D0-7350-58CD-04069C5F45C3}"/>
              </a:ext>
            </a:extLst>
          </p:cNvPr>
          <p:cNvSpPr>
            <a:spLocks noGrp="1"/>
          </p:cNvSpPr>
          <p:nvPr>
            <p:ph type="title"/>
          </p:nvPr>
        </p:nvSpPr>
        <p:spPr>
          <a:xfrm>
            <a:off x="772212" y="519515"/>
            <a:ext cx="10515600" cy="2284577"/>
          </a:xfrm>
          <a:ln>
            <a:solidFill>
              <a:srgbClr val="FFC000"/>
            </a:solidFill>
          </a:ln>
        </p:spPr>
        <p:txBody>
          <a:bodyPr>
            <a:noAutofit/>
          </a:bodyPr>
          <a:lstStyle/>
          <a:p>
            <a:r>
              <a:rPr lang="pt-BR" sz="3200" i="1" dirty="0"/>
              <a:t>Mensagem no whats:</a:t>
            </a:r>
            <a:br>
              <a:rPr lang="pt-BR" sz="3200" i="1" dirty="0"/>
            </a:br>
            <a:br>
              <a:rPr lang="pt-BR" sz="3200" i="1" dirty="0"/>
            </a:br>
            <a:r>
              <a:rPr lang="pt-BR" sz="3200" i="1" dirty="0"/>
              <a:t>Olá! Fiz o Checklist de NR12 no site de vocês e percebi que minha operação possui pontos de risco. Gostaria de falar com a equipe técnica para entender como regularizar minha fábrica.</a:t>
            </a:r>
            <a:endParaRPr lang="pt-BR" sz="3200" dirty="0"/>
          </a:p>
        </p:txBody>
      </p:sp>
      <p:sp>
        <p:nvSpPr>
          <p:cNvPr id="4" name="CaixaDeTexto 3">
            <a:extLst>
              <a:ext uri="{FF2B5EF4-FFF2-40B4-BE49-F238E27FC236}">
                <a16:creationId xmlns:a16="http://schemas.microsoft.com/office/drawing/2014/main" id="{4121962A-BA38-ED4C-46FE-4B39B1611051}"/>
              </a:ext>
            </a:extLst>
          </p:cNvPr>
          <p:cNvSpPr txBox="1"/>
          <p:nvPr/>
        </p:nvSpPr>
        <p:spPr>
          <a:xfrm>
            <a:off x="365760" y="519515"/>
            <a:ext cx="251460" cy="369332"/>
          </a:xfrm>
          <a:prstGeom prst="rect">
            <a:avLst/>
          </a:prstGeom>
          <a:noFill/>
        </p:spPr>
        <p:txBody>
          <a:bodyPr wrap="square" rtlCol="0">
            <a:spAutoFit/>
          </a:bodyPr>
          <a:lstStyle/>
          <a:p>
            <a:r>
              <a:rPr lang="pt-BR" dirty="0">
                <a:solidFill>
                  <a:srgbClr val="FFC000"/>
                </a:solidFill>
              </a:rPr>
              <a:t>2</a:t>
            </a:r>
          </a:p>
        </p:txBody>
      </p:sp>
    </p:spTree>
    <p:extLst>
      <p:ext uri="{BB962C8B-B14F-4D97-AF65-F5344CB8AC3E}">
        <p14:creationId xmlns:p14="http://schemas.microsoft.com/office/powerpoint/2010/main" val="654434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D6E65486-EBFA-CD76-DF6F-E11A6B460245}"/>
              </a:ext>
            </a:extLst>
          </p:cNvPr>
          <p:cNvPicPr>
            <a:picLocks noChangeAspect="1"/>
          </p:cNvPicPr>
          <p:nvPr/>
        </p:nvPicPr>
        <p:blipFill>
          <a:blip r:embed="rId2"/>
          <a:stretch>
            <a:fillRect/>
          </a:stretch>
        </p:blipFill>
        <p:spPr>
          <a:xfrm>
            <a:off x="0" y="214312"/>
            <a:ext cx="7715250" cy="6646162"/>
          </a:xfrm>
          <a:prstGeom prst="rect">
            <a:avLst/>
          </a:prstGeom>
        </p:spPr>
      </p:pic>
      <p:sp>
        <p:nvSpPr>
          <p:cNvPr id="6" name="Retângulo 5">
            <a:extLst>
              <a:ext uri="{FF2B5EF4-FFF2-40B4-BE49-F238E27FC236}">
                <a16:creationId xmlns:a16="http://schemas.microsoft.com/office/drawing/2014/main" id="{8B8450E7-4F99-C4B9-21CC-C102F117ECA9}"/>
              </a:ext>
            </a:extLst>
          </p:cNvPr>
          <p:cNvSpPr/>
          <p:nvPr/>
        </p:nvSpPr>
        <p:spPr>
          <a:xfrm>
            <a:off x="237171" y="942975"/>
            <a:ext cx="7278053" cy="1128713"/>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reto 8">
            <a:extLst>
              <a:ext uri="{FF2B5EF4-FFF2-40B4-BE49-F238E27FC236}">
                <a16:creationId xmlns:a16="http://schemas.microsoft.com/office/drawing/2014/main" id="{50F33742-F7E5-3D43-1F04-79DFFB89786D}"/>
              </a:ext>
            </a:extLst>
          </p:cNvPr>
          <p:cNvCxnSpPr>
            <a:cxnSpLocks/>
          </p:cNvCxnSpPr>
          <p:nvPr/>
        </p:nvCxnSpPr>
        <p:spPr>
          <a:xfrm>
            <a:off x="1638300" y="2966085"/>
            <a:ext cx="12906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CaixaDeTexto 12">
            <a:extLst>
              <a:ext uri="{FF2B5EF4-FFF2-40B4-BE49-F238E27FC236}">
                <a16:creationId xmlns:a16="http://schemas.microsoft.com/office/drawing/2014/main" id="{5146F3CA-C4FE-8EF9-31F2-759994249C2D}"/>
              </a:ext>
            </a:extLst>
          </p:cNvPr>
          <p:cNvSpPr txBox="1"/>
          <p:nvPr/>
        </p:nvSpPr>
        <p:spPr>
          <a:xfrm>
            <a:off x="7715248" y="2494507"/>
            <a:ext cx="4100513" cy="1200329"/>
          </a:xfrm>
          <a:prstGeom prst="rect">
            <a:avLst/>
          </a:prstGeom>
          <a:noFill/>
          <a:ln>
            <a:solidFill>
              <a:srgbClr val="FF0000"/>
            </a:solidFill>
          </a:ln>
        </p:spPr>
        <p:txBody>
          <a:bodyPr wrap="square" rtlCol="0">
            <a:spAutoFit/>
          </a:bodyPr>
          <a:lstStyle/>
          <a:p>
            <a:pPr algn="ctr"/>
            <a:r>
              <a:rPr lang="pt-BR" dirty="0"/>
              <a:t>É obrigatório desde 2010</a:t>
            </a:r>
          </a:p>
          <a:p>
            <a:pPr algn="ctr"/>
            <a:endParaRPr lang="pt-BR" dirty="0"/>
          </a:p>
          <a:p>
            <a:pPr algn="ctr"/>
            <a:r>
              <a:rPr lang="pt-BR" dirty="0"/>
              <a:t>Ajustar o texto ou remover totalmente a data</a:t>
            </a:r>
          </a:p>
        </p:txBody>
      </p:sp>
      <p:sp>
        <p:nvSpPr>
          <p:cNvPr id="15" name="CaixaDeTexto 14">
            <a:extLst>
              <a:ext uri="{FF2B5EF4-FFF2-40B4-BE49-F238E27FC236}">
                <a16:creationId xmlns:a16="http://schemas.microsoft.com/office/drawing/2014/main" id="{DDDDF22B-CD82-8309-1C83-1F4F58BC31BC}"/>
              </a:ext>
            </a:extLst>
          </p:cNvPr>
          <p:cNvSpPr txBox="1"/>
          <p:nvPr/>
        </p:nvSpPr>
        <p:spPr>
          <a:xfrm>
            <a:off x="7715248" y="284096"/>
            <a:ext cx="4100513" cy="2031325"/>
          </a:xfrm>
          <a:prstGeom prst="rect">
            <a:avLst/>
          </a:prstGeom>
          <a:noFill/>
          <a:ln>
            <a:solidFill>
              <a:srgbClr val="FFC000"/>
            </a:solidFill>
          </a:ln>
        </p:spPr>
        <p:txBody>
          <a:bodyPr wrap="square" rtlCol="0">
            <a:spAutoFit/>
          </a:bodyPr>
          <a:lstStyle/>
          <a:p>
            <a:pPr algn="ctr"/>
            <a:r>
              <a:rPr lang="pt-BR" dirty="0"/>
              <a:t>Nosso foco é minimizar o impacto. Trabalhamos com paradas programadas e estratégicas, 100% alinhadas com o seu cronograma. Assim, realizamos as intervenções necessárias com segurança e eficiência, sem gerar o caos de uma parada não planejada na sua fábrica.</a:t>
            </a:r>
          </a:p>
        </p:txBody>
      </p:sp>
    </p:spTree>
    <p:extLst>
      <p:ext uri="{BB962C8B-B14F-4D97-AF65-F5344CB8AC3E}">
        <p14:creationId xmlns:p14="http://schemas.microsoft.com/office/powerpoint/2010/main" val="4112889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5A2071CB-1CBB-24AD-E0D4-B072165305BB}"/>
              </a:ext>
            </a:extLst>
          </p:cNvPr>
          <p:cNvPicPr>
            <a:picLocks noChangeAspect="1"/>
          </p:cNvPicPr>
          <p:nvPr/>
        </p:nvPicPr>
        <p:blipFill>
          <a:blip r:embed="rId2"/>
          <a:stretch>
            <a:fillRect/>
          </a:stretch>
        </p:blipFill>
        <p:spPr>
          <a:xfrm>
            <a:off x="0" y="0"/>
            <a:ext cx="12218552" cy="6143625"/>
          </a:xfrm>
          <a:prstGeom prst="rect">
            <a:avLst/>
          </a:prstGeom>
        </p:spPr>
      </p:pic>
      <p:cxnSp>
        <p:nvCxnSpPr>
          <p:cNvPr id="5" name="Conector reto 4">
            <a:extLst>
              <a:ext uri="{FF2B5EF4-FFF2-40B4-BE49-F238E27FC236}">
                <a16:creationId xmlns:a16="http://schemas.microsoft.com/office/drawing/2014/main" id="{CCA841B4-66FE-7800-96DF-CDB66D95B3F3}"/>
              </a:ext>
            </a:extLst>
          </p:cNvPr>
          <p:cNvCxnSpPr>
            <a:cxnSpLocks/>
          </p:cNvCxnSpPr>
          <p:nvPr/>
        </p:nvCxnSpPr>
        <p:spPr>
          <a:xfrm>
            <a:off x="4652963" y="2008823"/>
            <a:ext cx="383381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454A099C-A87D-2887-24CC-8E3533C788A4}"/>
              </a:ext>
            </a:extLst>
          </p:cNvPr>
          <p:cNvSpPr txBox="1"/>
          <p:nvPr/>
        </p:nvSpPr>
        <p:spPr>
          <a:xfrm>
            <a:off x="3400425" y="6256271"/>
            <a:ext cx="5086350" cy="369332"/>
          </a:xfrm>
          <a:prstGeom prst="rect">
            <a:avLst/>
          </a:prstGeom>
          <a:noFill/>
          <a:ln>
            <a:solidFill>
              <a:srgbClr val="FFC000"/>
            </a:solidFill>
          </a:ln>
        </p:spPr>
        <p:txBody>
          <a:bodyPr wrap="square" rtlCol="0">
            <a:spAutoFit/>
          </a:bodyPr>
          <a:lstStyle/>
          <a:p>
            <a:pPr algn="ctr"/>
            <a:r>
              <a:rPr lang="pt-BR" dirty="0"/>
              <a:t>Fale com um engenheiro e saiba por onde começar</a:t>
            </a:r>
          </a:p>
        </p:txBody>
      </p:sp>
    </p:spTree>
    <p:extLst>
      <p:ext uri="{BB962C8B-B14F-4D97-AF65-F5344CB8AC3E}">
        <p14:creationId xmlns:p14="http://schemas.microsoft.com/office/powerpoint/2010/main" val="115710682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797</Words>
  <Application>Microsoft Office PowerPoint</Application>
  <PresentationFormat>Widescreen</PresentationFormat>
  <Paragraphs>46</Paragraphs>
  <Slides>8</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8</vt:i4>
      </vt:variant>
    </vt:vector>
  </HeadingPairs>
  <TitlesOfParts>
    <vt:vector size="13" baseType="lpstr">
      <vt:lpstr>Arial</vt:lpstr>
      <vt:lpstr>Calibri</vt:lpstr>
      <vt:lpstr>Calibri Light</vt:lpstr>
      <vt:lpstr>Roboto</vt:lpstr>
      <vt:lpstr>Tema do Office</vt:lpstr>
      <vt:lpstr>É obrigatório desde 2010, podemos deixar sem a data.</vt:lpstr>
      <vt:lpstr>1) Se faz a apreciação de risco 2) Com base na apreciação de riscos é que se obtém um  inventário de risco (lista priorização por risco).   A apreciação vai analisar o HRN de cada máquina, o inventário é uma lista de todas as máquinas, cada uma com seu HRN, por ordem do maior para o menor. Quanto maior o HRN, maior o risco.</vt:lpstr>
      <vt:lpstr>É normal ocorrer perda de produtividade quando se faz uma adequação de segurança. Não podemos prometer que não perca pois seria propaganda enganosa. Remover essa frase.  Aqui o que pode ter gerado essa confusão é que a Coda atua com  automação, que em outro tipo de projeto, voltado a automação de processos, posso evitar que o operador esteja operando a máquina e dessa forma não preciso fazer uma proteção especifica que perde produção, apenas enclausura o risco e deixo o sistema trabalhar, e pensando em otimizar a eficiência. Mas são coisas distintas.</vt:lpstr>
      <vt:lpstr>Apresentação do PowerPoint</vt:lpstr>
      <vt:lpstr>Apresentação do PowerPoint</vt:lpstr>
      <vt:lpstr>Mensagem no whats:  Olá! Fiz o Checklist de NR12 no site de vocês e percebi que minha operação possui pontos de risco. Gostaria de falar com a equipe técnica para entender como regularizar minha fábrica.</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Ianca</dc:creator>
  <cp:lastModifiedBy>Ianca</cp:lastModifiedBy>
  <cp:revision>3</cp:revision>
  <dcterms:created xsi:type="dcterms:W3CDTF">2026-06-11T12:43:55Z</dcterms:created>
  <dcterms:modified xsi:type="dcterms:W3CDTF">2026-06-11T15:03:31Z</dcterms:modified>
</cp:coreProperties>
</file>